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rygada 1918 Semi Bold"/>
      <p:regular r:id="rId17"/>
    </p:embeddedFont>
    <p:embeddedFont>
      <p:font typeface="Brygada 1918 Semi Bold"/>
      <p:regular r:id="rId18"/>
    </p:embeddedFont>
    <p:embeddedFont>
      <p:font typeface="Brygada 1918 Semi Bold"/>
      <p:regular r:id="rId19"/>
    </p:embeddedFont>
    <p:embeddedFont>
      <p:font typeface="Brygada 1918 Semi Bold"/>
      <p:regular r:id="rId20"/>
    </p:embeddedFont>
    <p:embeddedFont>
      <p:font typeface="Brygada 1918"/>
      <p:regular r:id="rId21"/>
    </p:embeddedFont>
    <p:embeddedFont>
      <p:font typeface="Brygada 1918"/>
      <p:regular r:id="rId22"/>
    </p:embeddedFont>
    <p:embeddedFont>
      <p:font typeface="Brygada 1918"/>
      <p:regular r:id="rId23"/>
    </p:embeddedFont>
    <p:embeddedFont>
      <p:font typeface="Brygada 1918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Blinkit Sales &amp; Outlet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SQL-driven insights for inventory, outlets, assortment, and growth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28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812" y="3413998"/>
            <a:ext cx="5577721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Project Objective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80812" y="4440317"/>
            <a:ext cx="4209931" cy="1649254"/>
          </a:xfrm>
          <a:prstGeom prst="roundRect">
            <a:avLst>
              <a:gd name="adj" fmla="val 20292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1436" y="4670941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Clean Data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11436" y="5151001"/>
            <a:ext cx="3748683" cy="70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Standardize product attributes for reliable analysis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0175" y="4440317"/>
            <a:ext cx="4209931" cy="1649254"/>
          </a:xfrm>
          <a:prstGeom prst="roundRect">
            <a:avLst>
              <a:gd name="adj" fmla="val 20292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0799" y="4670941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Measure Metrics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440799" y="5151001"/>
            <a:ext cx="3748683" cy="70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Total sales, avg sales, item count, avg rating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39538" y="4440317"/>
            <a:ext cx="4209931" cy="1649254"/>
          </a:xfrm>
          <a:prstGeom prst="roundRect">
            <a:avLst>
              <a:gd name="adj" fmla="val 20292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0162" y="4670941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Segment Analysis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870162" y="5151001"/>
            <a:ext cx="3748683" cy="70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By fat content, item type, outlet attributes, year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80812" y="6309003"/>
            <a:ext cx="13068657" cy="1295281"/>
          </a:xfrm>
          <a:prstGeom prst="roundRect">
            <a:avLst>
              <a:gd name="adj" fmla="val 25837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1436" y="6539627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Recommend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11436" y="7019687"/>
            <a:ext cx="12607409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Inventory, outlet strategy, merchandising, growth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 Preparation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727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Key Steps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308271"/>
            <a:ext cx="4205168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Created blinkitdb and normalized blinkit table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Standardized ItemFatContent (Low Fat, Regular)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Ensured consistent categorical values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84835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Result: improved reliability and aggregation accuracy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118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351" y="3152537"/>
            <a:ext cx="4862393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Key Metrics Overview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12351" y="4279821"/>
            <a:ext cx="4294227" cy="1370528"/>
          </a:xfrm>
          <a:prstGeom prst="roundRect">
            <a:avLst>
              <a:gd name="adj" fmla="val 8006"/>
            </a:avLst>
          </a:prstGeom>
          <a:solidFill>
            <a:srgbClr val="F6EBD4"/>
          </a:solidFill>
          <a:ln/>
        </p:spPr>
      </p:sp>
      <p:sp>
        <p:nvSpPr>
          <p:cNvPr id="5" name="Shape 2"/>
          <p:cNvSpPr/>
          <p:nvPr/>
        </p:nvSpPr>
        <p:spPr>
          <a:xfrm>
            <a:off x="712351" y="4256961"/>
            <a:ext cx="4294227" cy="91440"/>
          </a:xfrm>
          <a:prstGeom prst="roundRect">
            <a:avLst>
              <a:gd name="adj" fmla="val 313953"/>
            </a:avLst>
          </a:prstGeom>
          <a:solidFill>
            <a:srgbClr val="626C3B"/>
          </a:solidFill>
          <a:ln/>
        </p:spPr>
      </p:sp>
      <p:sp>
        <p:nvSpPr>
          <p:cNvPr id="6" name="Shape 3"/>
          <p:cNvSpPr/>
          <p:nvPr/>
        </p:nvSpPr>
        <p:spPr>
          <a:xfrm>
            <a:off x="2572345" y="3992761"/>
            <a:ext cx="574119" cy="574119"/>
          </a:xfrm>
          <a:prstGeom prst="roundRect">
            <a:avLst>
              <a:gd name="adj" fmla="val 159270"/>
            </a:avLst>
          </a:prstGeom>
          <a:solidFill>
            <a:srgbClr val="626C3B"/>
          </a:solidFill>
          <a:ln/>
        </p:spPr>
      </p:sp>
      <p:sp>
        <p:nvSpPr>
          <p:cNvPr id="7" name="Text 4"/>
          <p:cNvSpPr/>
          <p:nvPr/>
        </p:nvSpPr>
        <p:spPr>
          <a:xfrm>
            <a:off x="2744629" y="4136231"/>
            <a:ext cx="22955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26544" y="475821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Total Sales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26544" y="5153978"/>
            <a:ext cx="386584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Shown in million format for executives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68027" y="4279821"/>
            <a:ext cx="4294227" cy="1370528"/>
          </a:xfrm>
          <a:prstGeom prst="roundRect">
            <a:avLst>
              <a:gd name="adj" fmla="val 8006"/>
            </a:avLst>
          </a:prstGeom>
          <a:solidFill>
            <a:srgbClr val="F6EBD4"/>
          </a:solidFill>
          <a:ln/>
        </p:spPr>
      </p:sp>
      <p:sp>
        <p:nvSpPr>
          <p:cNvPr id="11" name="Shape 8"/>
          <p:cNvSpPr/>
          <p:nvPr/>
        </p:nvSpPr>
        <p:spPr>
          <a:xfrm>
            <a:off x="5168027" y="4256961"/>
            <a:ext cx="4294227" cy="91440"/>
          </a:xfrm>
          <a:prstGeom prst="roundRect">
            <a:avLst>
              <a:gd name="adj" fmla="val 313953"/>
            </a:avLst>
          </a:prstGeom>
          <a:solidFill>
            <a:srgbClr val="83792E"/>
          </a:solidFill>
          <a:ln/>
        </p:spPr>
      </p:sp>
      <p:sp>
        <p:nvSpPr>
          <p:cNvPr id="12" name="Shape 9"/>
          <p:cNvSpPr/>
          <p:nvPr/>
        </p:nvSpPr>
        <p:spPr>
          <a:xfrm>
            <a:off x="7028021" y="3992761"/>
            <a:ext cx="574119" cy="574119"/>
          </a:xfrm>
          <a:prstGeom prst="roundRect">
            <a:avLst>
              <a:gd name="adj" fmla="val 159270"/>
            </a:avLst>
          </a:prstGeom>
          <a:solidFill>
            <a:srgbClr val="83792E"/>
          </a:solidFill>
          <a:ln/>
        </p:spPr>
      </p:sp>
      <p:sp>
        <p:nvSpPr>
          <p:cNvPr id="13" name="Text 10"/>
          <p:cNvSpPr/>
          <p:nvPr/>
        </p:nvSpPr>
        <p:spPr>
          <a:xfrm>
            <a:off x="7200305" y="4136231"/>
            <a:ext cx="22955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82220" y="475821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Avg Sales / Item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382220" y="5153978"/>
            <a:ext cx="386584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Typical product-level revenue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623703" y="4279821"/>
            <a:ext cx="4294227" cy="1370528"/>
          </a:xfrm>
          <a:prstGeom prst="roundRect">
            <a:avLst>
              <a:gd name="adj" fmla="val 8006"/>
            </a:avLst>
          </a:prstGeom>
          <a:solidFill>
            <a:srgbClr val="F6EBD4"/>
          </a:solidFill>
          <a:ln/>
        </p:spPr>
      </p:sp>
      <p:sp>
        <p:nvSpPr>
          <p:cNvPr id="17" name="Shape 14"/>
          <p:cNvSpPr/>
          <p:nvPr/>
        </p:nvSpPr>
        <p:spPr>
          <a:xfrm>
            <a:off x="9623703" y="4256961"/>
            <a:ext cx="4294227" cy="91440"/>
          </a:xfrm>
          <a:prstGeom prst="roundRect">
            <a:avLst>
              <a:gd name="adj" fmla="val 313953"/>
            </a:avLst>
          </a:prstGeom>
          <a:solidFill>
            <a:srgbClr val="E8AF3B"/>
          </a:solidFill>
          <a:ln/>
        </p:spPr>
      </p:sp>
      <p:sp>
        <p:nvSpPr>
          <p:cNvPr id="18" name="Shape 15"/>
          <p:cNvSpPr/>
          <p:nvPr/>
        </p:nvSpPr>
        <p:spPr>
          <a:xfrm>
            <a:off x="11483697" y="3992761"/>
            <a:ext cx="574119" cy="574119"/>
          </a:xfrm>
          <a:prstGeom prst="roundRect">
            <a:avLst>
              <a:gd name="adj" fmla="val 159270"/>
            </a:avLst>
          </a:prstGeom>
          <a:solidFill>
            <a:srgbClr val="E8AF3B"/>
          </a:solidFill>
          <a:ln/>
        </p:spPr>
      </p:sp>
      <p:sp>
        <p:nvSpPr>
          <p:cNvPr id="19" name="Text 16"/>
          <p:cNvSpPr/>
          <p:nvPr/>
        </p:nvSpPr>
        <p:spPr>
          <a:xfrm>
            <a:off x="11655981" y="4136231"/>
            <a:ext cx="22955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837896" y="475821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Total Items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9837896" y="5153978"/>
            <a:ext cx="386584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Dataset size &amp; assortment diversity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12351" y="6098857"/>
            <a:ext cx="13205579" cy="1370528"/>
          </a:xfrm>
          <a:prstGeom prst="roundRect">
            <a:avLst>
              <a:gd name="adj" fmla="val 8006"/>
            </a:avLst>
          </a:prstGeom>
          <a:solidFill>
            <a:srgbClr val="F6EBD4"/>
          </a:solidFill>
          <a:ln/>
        </p:spPr>
      </p:sp>
      <p:sp>
        <p:nvSpPr>
          <p:cNvPr id="23" name="Shape 20"/>
          <p:cNvSpPr/>
          <p:nvPr/>
        </p:nvSpPr>
        <p:spPr>
          <a:xfrm>
            <a:off x="712351" y="6075998"/>
            <a:ext cx="13205579" cy="91440"/>
          </a:xfrm>
          <a:prstGeom prst="roundRect">
            <a:avLst>
              <a:gd name="adj" fmla="val 313953"/>
            </a:avLst>
          </a:prstGeom>
          <a:solidFill>
            <a:srgbClr val="CC914D"/>
          </a:solidFill>
          <a:ln/>
        </p:spPr>
      </p:sp>
      <p:sp>
        <p:nvSpPr>
          <p:cNvPr id="24" name="Shape 21"/>
          <p:cNvSpPr/>
          <p:nvPr/>
        </p:nvSpPr>
        <p:spPr>
          <a:xfrm>
            <a:off x="7028021" y="5811798"/>
            <a:ext cx="574119" cy="574119"/>
          </a:xfrm>
          <a:prstGeom prst="roundRect">
            <a:avLst>
              <a:gd name="adj" fmla="val 159270"/>
            </a:avLst>
          </a:prstGeom>
          <a:solidFill>
            <a:srgbClr val="CC914D"/>
          </a:solidFill>
          <a:ln/>
        </p:spPr>
      </p:sp>
      <p:sp>
        <p:nvSpPr>
          <p:cNvPr id="25" name="Text 22"/>
          <p:cNvSpPr/>
          <p:nvPr/>
        </p:nvSpPr>
        <p:spPr>
          <a:xfrm>
            <a:off x="7200305" y="5955268"/>
            <a:ext cx="229553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26544" y="657725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Avg Rating</a:t>
            </a:r>
            <a:endParaRPr lang="en-US" sz="1850" dirty="0"/>
          </a:p>
        </p:txBody>
      </p:sp>
      <p:sp>
        <p:nvSpPr>
          <p:cNvPr id="27" name="Text 24"/>
          <p:cNvSpPr/>
          <p:nvPr/>
        </p:nvSpPr>
        <p:spPr>
          <a:xfrm>
            <a:off x="926544" y="6973014"/>
            <a:ext cx="1277719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 satisfaction signal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82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Fat Content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30642"/>
            <a:ext cx="1849993" cy="2312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7271" y="3230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Regular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927271" y="3721060"/>
            <a:ext cx="42461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Higher total sales; slightly higher avg sales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3230642"/>
            <a:ext cx="1850112" cy="23125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0484" y="3230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Low Fat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0484" y="3721060"/>
            <a:ext cx="42461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Competitive ratings; strong demand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93790" y="57983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Insight: Maintain both categories—diverse consumer demand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413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Top Item Types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90267"/>
            <a:ext cx="30480" cy="3098006"/>
          </a:xfrm>
          <a:prstGeom prst="roundRect">
            <a:avLst>
              <a:gd name="adj" fmla="val 1116279"/>
            </a:avLst>
          </a:prstGeom>
          <a:solidFill>
            <a:srgbClr val="7B8554"/>
          </a:solidFill>
          <a:ln/>
        </p:spPr>
      </p:sp>
      <p:sp>
        <p:nvSpPr>
          <p:cNvPr id="5" name="Shape 2"/>
          <p:cNvSpPr/>
          <p:nvPr/>
        </p:nvSpPr>
        <p:spPr>
          <a:xfrm>
            <a:off x="6310670" y="3090267"/>
            <a:ext cx="7556421" cy="1322189"/>
          </a:xfrm>
          <a:prstGeom prst="rect">
            <a:avLst/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484" y="33247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Top 5 Categories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37484" y="3815120"/>
            <a:ext cx="70951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Disproportionate revenue share (Pareto effect)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310670" y="4866084"/>
            <a:ext cx="7556421" cy="1322189"/>
          </a:xfrm>
          <a:prstGeom prst="rect">
            <a:avLst/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484" y="5100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Performance Signals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37484" y="5590937"/>
            <a:ext cx="70951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 total sales, strong avg ratings, large item counts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17" y="586978"/>
            <a:ext cx="13136166" cy="6574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6184" y="3597890"/>
            <a:ext cx="2467127" cy="36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Small Size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688971" y="6601831"/>
            <a:ext cx="3258403" cy="36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Low Sales Contribution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343966" y="3597890"/>
            <a:ext cx="2467127" cy="36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Large Size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628892" y="856820"/>
            <a:ext cx="3363593" cy="36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High Sales Contribution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428136" y="5149482"/>
            <a:ext cx="2532742" cy="57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Rural — Small outlets: Low sales</a:t>
            </a:r>
            <a:endParaRPr lang="en-US" sz="1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3687" y="4345492"/>
            <a:ext cx="367445" cy="367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05735" y="5019277"/>
            <a:ext cx="2532743" cy="85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Semi-urban — Small outlets: Moderate performance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8384" y="4353284"/>
            <a:ext cx="367445" cy="3674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05735" y="2591519"/>
            <a:ext cx="2532743" cy="85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Semi-urban — Medium outlets: Strong contributors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88384" y="1925526"/>
            <a:ext cx="367445" cy="3674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49398" y="2734847"/>
            <a:ext cx="2532742" cy="57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Urban — Large outlets: Top performers</a:t>
            </a:r>
            <a:endParaRPr lang="en-US" sz="1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32047" y="1925526"/>
            <a:ext cx="367445" cy="3674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7117" y="7387590"/>
            <a:ext cx="13136166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Urban &amp; semi-urban outperform rural; medium/large outlets contribute most sales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7638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Outlet Establishment &amp; Type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38943" y="270855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626C3B"/>
          </a:solidFill>
          <a:ln/>
        </p:spPr>
      </p:sp>
      <p:sp>
        <p:nvSpPr>
          <p:cNvPr id="5" name="Text 2"/>
          <p:cNvSpPr/>
          <p:nvPr/>
        </p:nvSpPr>
        <p:spPr>
          <a:xfrm>
            <a:off x="9979104" y="25880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Older Outlets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979104" y="3169206"/>
            <a:ext cx="3865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Higher total sales; stable ratings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9638943" y="410622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83792E"/>
          </a:solidFill>
          <a:ln/>
        </p:spPr>
      </p:sp>
      <p:sp>
        <p:nvSpPr>
          <p:cNvPr id="8" name="Text 5"/>
          <p:cNvSpPr/>
          <p:nvPr/>
        </p:nvSpPr>
        <p:spPr>
          <a:xfrm>
            <a:off x="9979104" y="3985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New Outlets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979104" y="4566880"/>
            <a:ext cx="3865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Lower sales but growth potential; need support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38943" y="5866805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E8AF3B"/>
          </a:solidFill>
          <a:ln/>
        </p:spPr>
      </p:sp>
      <p:sp>
        <p:nvSpPr>
          <p:cNvPr id="11" name="Text 8"/>
          <p:cNvSpPr/>
          <p:nvPr/>
        </p:nvSpPr>
        <p:spPr>
          <a:xfrm>
            <a:off x="9979104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Outlet Type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979104" y="6327458"/>
            <a:ext cx="3865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 item visibility → better sales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071" y="609481"/>
            <a:ext cx="4611648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51071" y="1485900"/>
            <a:ext cx="184428" cy="1106805"/>
          </a:xfrm>
          <a:prstGeom prst="roundRect">
            <a:avLst>
              <a:gd name="adj" fmla="val 150033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5518" y="1670328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Inventory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5518" y="2048589"/>
            <a:ext cx="12393811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Increase stock for top-performing types; balance Low Fat &amp; Regular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227773" y="2742724"/>
            <a:ext cx="184428" cy="1106805"/>
          </a:xfrm>
          <a:prstGeom prst="roundRect">
            <a:avLst>
              <a:gd name="adj" fmla="val 150033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2219" y="2927152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Outlet Strategy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62219" y="3305413"/>
            <a:ext cx="12117110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Expand in high-performing locations; upgrade small outlets where demand exists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504474" y="3999548"/>
            <a:ext cx="184428" cy="1106805"/>
          </a:xfrm>
          <a:prstGeom prst="roundRect">
            <a:avLst>
              <a:gd name="adj" fmla="val 150033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38920" y="4183975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Visibility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38920" y="4562237"/>
            <a:ext cx="11840408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Improve shelf placement using data-driven merchandising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781175" y="5256371"/>
            <a:ext cx="184428" cy="1106805"/>
          </a:xfrm>
          <a:prstGeom prst="roundRect">
            <a:avLst>
              <a:gd name="adj" fmla="val 150033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15622" y="5440799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Support New Outlets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15622" y="5819061"/>
            <a:ext cx="11563707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Promotions and benchmarking from mature outlets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504474" y="6513195"/>
            <a:ext cx="184428" cy="1106805"/>
          </a:xfrm>
          <a:prstGeom prst="roundRect">
            <a:avLst>
              <a:gd name="adj" fmla="val 150033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38920" y="669762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Ratings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38920" y="7075884"/>
            <a:ext cx="11840408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Monitor and act on ratings for high-selling but low-rated items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344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83387"/>
            <a:ext cx="3664744" cy="2093714"/>
          </a:xfrm>
          <a:prstGeom prst="roundRect">
            <a:avLst>
              <a:gd name="adj" fmla="val 16251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7484" y="3540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Impact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4031099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Structured SQL analysis → actionable business insights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283387"/>
            <a:ext cx="3664863" cy="2093714"/>
          </a:xfrm>
          <a:prstGeom prst="roundRect">
            <a:avLst>
              <a:gd name="adj" fmla="val 16251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9042" y="3540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9042" y="4031099"/>
            <a:ext cx="31502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Revenue growth, smarter expansion, inventory efficiency, customer focus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56322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Next: prioritize top categories, optimize outlets, track ratings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2026-02-17T14:58:03Z</dcterms:created>
  <dcterms:modified xsi:type="dcterms:W3CDTF">2026-02-17T14:58:03Z</dcterms:modified>
</cp:coreProperties>
</file>